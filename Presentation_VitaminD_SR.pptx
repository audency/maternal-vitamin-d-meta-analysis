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2E4A"/>
                </a:solidFill>
              </a:defRPr>
            </a:pPr>
            <a:r>
              <a:t>Association Between Maternal Vitamin D Levels</a:t>
            </a:r>
            <a:br/>
            <a:r>
              <a:t>and Fetal Growth and Adiposity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444444"/>
                </a:solidFill>
              </a:defRPr>
            </a:pPr>
            <a:r>
              <a:t>A Systematic Review and Meta-Analysis</a:t>
            </a:r>
            <a:br/>
            <a:br/>
            <a:r>
              <a:t>Isabel O. A. &amp; Audencio Victor</a:t>
            </a:r>
            <a:br/>
            <a:r>
              <a:t>PROSPERO: CRD42024590338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7315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46520"/>
            <a:ext cx="11064240" cy="1905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09090"/>
                </a:solidFill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1A2E4A"/>
                </a:solidFill>
              </a:defRPr>
            </a:pPr>
            <a:r>
              <a:t>Background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1064240" cy="152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11111"/>
                </a:solidFill>
              </a:defRPr>
            </a:pPr>
            <a:r>
              <a:t>• Vitamin D [25(OH)D] regulates calcium homeostasis, immune function, cell growth, and gene transcription</a:t>
            </a:r>
          </a:p>
          <a:p>
            <a:pPr>
              <a:spcAft>
                <a:spcPts val="1000"/>
              </a:spcAft>
              <a:defRPr sz="1700">
                <a:solidFill>
                  <a:srgbClr val="111111"/>
                </a:solidFill>
              </a:defRPr>
            </a:pPr>
            <a:r>
              <a:t>• Maternal 25(OH)D crosses the placenta and is essential for fetal skeletal development and growth</a:t>
            </a:r>
          </a:p>
          <a:p>
            <a:pPr>
              <a:spcAft>
                <a:spcPts val="1000"/>
              </a:spcAft>
              <a:defRPr sz="1700">
                <a:solidFill>
                  <a:srgbClr val="111111"/>
                </a:solidFill>
              </a:defRPr>
            </a:pPr>
            <a:r>
              <a:t>• Deficiency (&lt; 50 nmol/L) affects up to 40–60% of pregnant women worldwide</a:t>
            </a:r>
          </a:p>
          <a:p>
            <a:pPr>
              <a:spcAft>
                <a:spcPts val="1000"/>
              </a:spcAft>
              <a:defRPr sz="1700">
                <a:solidFill>
                  <a:srgbClr val="111111"/>
                </a:solidFill>
              </a:defRPr>
            </a:pPr>
            <a:r>
              <a:t>• Fetal growth outcomes: SGA, FGR, biometry (FL, AC, BPD, HC), estimated fetal weight (EFW), adiposity</a:t>
            </a:r>
          </a:p>
          <a:p>
            <a:pPr>
              <a:spcAft>
                <a:spcPts val="1000"/>
              </a:spcAft>
              <a:defRPr sz="1700">
                <a:solidFill>
                  <a:srgbClr val="111111"/>
                </a:solidFill>
              </a:defRPr>
            </a:pPr>
            <a:r>
              <a:t>• Existing evidence is inconsistent due to heterogeneity in study design, VitD cutoffs, and analytical methods</a:t>
            </a:r>
          </a:p>
          <a:p>
            <a:pPr>
              <a:spcAft>
                <a:spcPts val="1000"/>
              </a:spcAft>
              <a:defRPr sz="1700">
                <a:solidFill>
                  <a:srgbClr val="111111"/>
                </a:solidFill>
              </a:defRPr>
            </a:pPr>
            <a:r>
              <a:t>• No comprehensive meta-analysis pooling both observational and RCT data on fetal growth and adiposity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46520"/>
            <a:ext cx="11064240" cy="1905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09090"/>
                </a:solidFill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1A2E4A"/>
                </a:solidFill>
              </a:defRPr>
            </a:pPr>
            <a:r>
              <a:t>Objective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1064240" cy="152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11111"/>
                </a:solidFill>
              </a:defRPr>
            </a:pPr>
            <a:r>
              <a:t>• To synthesize the available evidence on the association between maternal</a:t>
            </a:r>
          </a:p>
          <a:p>
            <a:pPr>
              <a:spcAft>
                <a:spcPts val="1000"/>
              </a:spcAft>
              <a:defRPr sz="1700">
                <a:solidFill>
                  <a:srgbClr val="111111"/>
                </a:solidFill>
              </a:defRPr>
            </a:pPr>
            <a:r>
              <a:t>  25(OH)D concentrations during pregnancy and fetal growth and adiposity</a:t>
            </a:r>
          </a:p>
          <a:p>
            <a:pPr>
              <a:spcAft>
                <a:spcPts val="1000"/>
              </a:spcAft>
              <a:defRPr sz="1700">
                <a:solidFill>
                  <a:srgbClr val="111111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111111"/>
                </a:solidFill>
              </a:defRPr>
            </a:pPr>
            <a:r>
              <a:t>• Primary outcome: SGA / FGR (dichotomous)</a:t>
            </a:r>
          </a:p>
          <a:p>
            <a:pPr>
              <a:spcAft>
                <a:spcPts val="1000"/>
              </a:spcAft>
              <a:defRPr sz="1700">
                <a:solidFill>
                  <a:srgbClr val="111111"/>
                </a:solidFill>
              </a:defRPr>
            </a:pPr>
            <a:r>
              <a:t>• Secondary outcomes:</a:t>
            </a:r>
          </a:p>
          <a:p>
            <a:pPr>
              <a:spcAft>
                <a:spcPts val="1000"/>
              </a:spcAft>
              <a:defRPr sz="1500">
                <a:solidFill>
                  <a:srgbClr val="444444"/>
                </a:solidFill>
              </a:defRPr>
            </a:pPr>
            <a:r>
              <a:t>   – Fetal biometry / EFW (dichotomous, OR)</a:t>
            </a:r>
          </a:p>
          <a:p>
            <a:pPr>
              <a:spcAft>
                <a:spcPts val="1000"/>
              </a:spcAft>
              <a:defRPr sz="1500">
                <a:solidFill>
                  <a:srgbClr val="444444"/>
                </a:solidFill>
              </a:defRPr>
            </a:pPr>
            <a:r>
              <a:t>   – Fetal bone measurements (continuous, MD) from RCTs</a:t>
            </a:r>
          </a:p>
          <a:p>
            <a:pPr>
              <a:spcAft>
                <a:spcPts val="1000"/>
              </a:spcAft>
              <a:defRPr sz="1500">
                <a:solidFill>
                  <a:srgbClr val="444444"/>
                </a:solidFill>
              </a:defRPr>
            </a:pPr>
            <a:r>
              <a:t>   – Fetal adiposity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46520"/>
            <a:ext cx="11064240" cy="1905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09090"/>
                </a:solidFill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1A2E4A"/>
                </a:solidFill>
              </a:defRPr>
            </a:pPr>
            <a:r>
              <a:t>Methods — Search Strategy &amp; Eligibility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1064240" cy="152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11111"/>
                </a:solidFill>
              </a:defRPr>
            </a:pPr>
            <a:r>
              <a:t>• PRISMA 2020 guidelines; registered at PROSPERO (CRD42024590338)</a:t>
            </a:r>
          </a:p>
          <a:p>
            <a:pPr>
              <a:spcAft>
                <a:spcPts val="1000"/>
              </a:spcAft>
              <a:defRPr sz="1700">
                <a:solidFill>
                  <a:srgbClr val="111111"/>
                </a:solidFill>
              </a:defRPr>
            </a:pPr>
            <a:r>
              <a:t>• Databases: PubMed, EMBASE, Scopus, LILACS, SciELO, Web of Science</a:t>
            </a:r>
          </a:p>
          <a:p>
            <a:pPr>
              <a:spcAft>
                <a:spcPts val="1000"/>
              </a:spcAft>
              <a:defRPr sz="1700">
                <a:solidFill>
                  <a:srgbClr val="111111"/>
                </a:solidFill>
              </a:defRPr>
            </a:pPr>
            <a:r>
              <a:t>• Search date: up to October 2024</a:t>
            </a:r>
          </a:p>
          <a:p>
            <a:pPr>
              <a:spcAft>
                <a:spcPts val="1000"/>
              </a:spcAft>
              <a:defRPr sz="1700">
                <a:solidFill>
                  <a:srgbClr val="111111"/>
                </a:solidFill>
              </a:defRPr>
            </a:pPr>
            <a:r>
              <a:t>• Inclusion: observational studies and RCTs in pregnant women with 25(OH)D measurement</a:t>
            </a:r>
          </a:p>
          <a:p>
            <a:pPr>
              <a:spcAft>
                <a:spcPts val="1000"/>
              </a:spcAft>
              <a:defRPr sz="1500">
                <a:solidFill>
                  <a:srgbClr val="444444"/>
                </a:solidFill>
              </a:defRPr>
            </a:pPr>
            <a:r>
              <a:t>   and fetal growth/biometry/adiposity outcomes</a:t>
            </a:r>
          </a:p>
          <a:p>
            <a:pPr>
              <a:spcAft>
                <a:spcPts val="1000"/>
              </a:spcAft>
              <a:defRPr sz="1700">
                <a:solidFill>
                  <a:srgbClr val="111111"/>
                </a:solidFill>
              </a:defRPr>
            </a:pPr>
            <a:r>
              <a:t>• Exclusion: multiple pregnancies, reviews, editorials, conference abstracts</a:t>
            </a:r>
          </a:p>
          <a:p>
            <a:pPr>
              <a:spcAft>
                <a:spcPts val="1000"/>
              </a:spcAft>
              <a:defRPr sz="1700">
                <a:solidFill>
                  <a:srgbClr val="111111"/>
                </a:solidFill>
              </a:defRPr>
            </a:pPr>
            <a:r>
              <a:t>• PECOS: Population (pregnant women), Exposure (25(OH)D status),</a:t>
            </a:r>
          </a:p>
          <a:p>
            <a:pPr>
              <a:spcAft>
                <a:spcPts val="1000"/>
              </a:spcAft>
              <a:defRPr sz="1500">
                <a:solidFill>
                  <a:srgbClr val="444444"/>
                </a:solidFill>
              </a:defRPr>
            </a:pPr>
            <a:r>
              <a:t>   Comparator (sufficient vs deficient), Outcome (fetal growth), Study (obs + RCT)</a:t>
            </a:r>
          </a:p>
          <a:p>
            <a:pPr>
              <a:spcAft>
                <a:spcPts val="1000"/>
              </a:spcAft>
              <a:defRPr sz="1700">
                <a:solidFill>
                  <a:srgbClr val="111111"/>
                </a:solidFill>
              </a:defRPr>
            </a:pPr>
            <a:r>
              <a:t>• Selection: two independent reviewers (AV, IOA); disagreements resolved by consensus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46520"/>
            <a:ext cx="11064240" cy="1905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09090"/>
                </a:solidFill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1A2E4A"/>
                </a:solidFill>
              </a:defRPr>
            </a:pPr>
            <a:r>
              <a:t>Methods — Statistical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1064240" cy="152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11111"/>
                </a:solidFill>
              </a:defRPr>
            </a:pPr>
            <a:r>
              <a:t>• Dichotomous outcomes: Odds Ratio (OR) with inverse-variance weighting</a:t>
            </a:r>
          </a:p>
          <a:p>
            <a:pPr>
              <a:spcAft>
                <a:spcPts val="1000"/>
              </a:spcAft>
              <a:defRPr sz="1500">
                <a:solidFill>
                  <a:srgbClr val="444444"/>
                </a:solidFill>
              </a:defRPr>
            </a:pPr>
            <a:r>
              <a:t>   ln(OR) = ln(a·d / b·c);  SE = √(1/a + 1/b + 1/c + 1/d)</a:t>
            </a:r>
          </a:p>
          <a:p>
            <a:pPr>
              <a:spcAft>
                <a:spcPts val="1000"/>
              </a:spcAft>
              <a:defRPr sz="1700">
                <a:solidFill>
                  <a:srgbClr val="111111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111111"/>
                </a:solidFill>
              </a:defRPr>
            </a:pPr>
            <a:r>
              <a:t>• Continuous outcomes (RCTs): Mean Difference (MD)</a:t>
            </a:r>
          </a:p>
          <a:p>
            <a:pPr>
              <a:spcAft>
                <a:spcPts val="1000"/>
              </a:spcAft>
              <a:defRPr sz="1500">
                <a:solidFill>
                  <a:srgbClr val="444444"/>
                </a:solidFill>
              </a:defRPr>
            </a:pPr>
            <a:r>
              <a:t>   MD = X̄ₑ − X̄ᴄ;  SE = √(s²ₑ/nₑ + s²ᴄ/nᴄ)</a:t>
            </a:r>
          </a:p>
          <a:p>
            <a:pPr>
              <a:spcAft>
                <a:spcPts val="1000"/>
              </a:spcAft>
              <a:defRPr sz="1700">
                <a:solidFill>
                  <a:srgbClr val="111111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111111"/>
                </a:solidFill>
              </a:defRPr>
            </a:pPr>
            <a:r>
              <a:t>• Model selection: adaptive approach</a:t>
            </a:r>
          </a:p>
          <a:p>
            <a:pPr>
              <a:spcAft>
                <a:spcPts val="1000"/>
              </a:spcAft>
              <a:defRPr sz="1500">
                <a:solidFill>
                  <a:srgbClr val="444444"/>
                </a:solidFill>
              </a:defRPr>
            </a:pPr>
            <a:r>
              <a:t>   Fixed-effects (Mantel–Haenszel) when I² &lt; 50%</a:t>
            </a:r>
          </a:p>
          <a:p>
            <a:pPr>
              <a:spcAft>
                <a:spcPts val="1000"/>
              </a:spcAft>
              <a:defRPr sz="1500">
                <a:solidFill>
                  <a:srgbClr val="444444"/>
                </a:solidFill>
              </a:defRPr>
            </a:pPr>
            <a:r>
              <a:t>   Random-effects (REML) when I² ≥ 50%</a:t>
            </a:r>
          </a:p>
          <a:p>
            <a:pPr>
              <a:spcAft>
                <a:spcPts val="1000"/>
              </a:spcAft>
              <a:defRPr sz="1700">
                <a:solidFill>
                  <a:srgbClr val="111111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111111"/>
                </a:solidFill>
              </a:defRPr>
            </a:pPr>
            <a:r>
              <a:t>• Heterogeneity: Cochran’s Q statistic and I²</a:t>
            </a:r>
          </a:p>
          <a:p>
            <a:pPr>
              <a:spcAft>
                <a:spcPts val="1000"/>
              </a:spcAft>
              <a:defRPr sz="1500">
                <a:solidFill>
                  <a:srgbClr val="444444"/>
                </a:solidFill>
              </a:defRPr>
            </a:pPr>
            <a:r>
              <a:t>   I² = [(Q − df) / Q] × 100%</a:t>
            </a:r>
          </a:p>
          <a:p>
            <a:pPr>
              <a:spcAft>
                <a:spcPts val="1000"/>
              </a:spcAft>
              <a:defRPr sz="1700">
                <a:solidFill>
                  <a:srgbClr val="111111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111111"/>
                </a:solidFill>
              </a:defRPr>
            </a:pPr>
            <a:r>
              <a:t>• Publication bias: Egger’s regression, Begg’s rank test, Duval &amp; Tweedie trim-and-fill</a:t>
            </a:r>
          </a:p>
          <a:p>
            <a:pPr>
              <a:spcAft>
                <a:spcPts val="1000"/>
              </a:spcAft>
              <a:defRPr sz="1700">
                <a:solidFill>
                  <a:srgbClr val="111111"/>
                </a:solidFill>
              </a:defRPr>
            </a:pPr>
            <a:r>
              <a:t>• Quality: JBI Critical Appraisal + NOS (observational); Cochrane RoB 2 (RCTs)</a:t>
            </a:r>
          </a:p>
          <a:p>
            <a:pPr>
              <a:spcAft>
                <a:spcPts val="1000"/>
              </a:spcAft>
              <a:defRPr sz="1700">
                <a:solidFill>
                  <a:srgbClr val="111111"/>
                </a:solidFill>
              </a:defRPr>
            </a:pPr>
            <a:r>
              <a:t>• Certainty of evidence: GRADE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909090"/>
                </a:solidFill>
              </a:defRPr>
            </a:pPr>
            <a:r>
              <a:t>Software: R (meta, metafor packages)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46520"/>
            <a:ext cx="11064240" cy="1905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09090"/>
                </a:solidFill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1A2E4A"/>
                </a:solidFill>
              </a:defRPr>
            </a:pPr>
            <a:r>
              <a:t>Methods — Key Formulas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1064240" cy="152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11111"/>
                </a:solidFill>
              </a:defRPr>
            </a:pPr>
            <a:r>
              <a:t>Pooled OR (fixed-effects, inverse-variance):</a:t>
            </a:r>
          </a:p>
          <a:p>
            <a:pPr>
              <a:spcAft>
                <a:spcPts val="1000"/>
              </a:spcAft>
              <a:defRPr sz="1500">
                <a:solidFill>
                  <a:srgbClr val="444444"/>
                </a:solidFill>
              </a:defRPr>
            </a:pPr>
            <a:r>
              <a:t>   ln(ORₚ) = Σ wᵢ · ln(ORᵢ) / Σ wᵢ ,  where  wᵢ = 1 / SEᵢ²</a:t>
            </a:r>
          </a:p>
          <a:p>
            <a:pPr>
              <a:spcAft>
                <a:spcPts val="1000"/>
              </a:spcAft>
              <a:defRPr sz="1700">
                <a:solidFill>
                  <a:srgbClr val="111111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111111"/>
                </a:solidFill>
              </a:defRPr>
            </a:pPr>
            <a:r>
              <a:t>Random-effects (DerSimonian–Laird / REML):</a:t>
            </a:r>
          </a:p>
          <a:p>
            <a:pPr>
              <a:spcAft>
                <a:spcPts val="1000"/>
              </a:spcAft>
              <a:defRPr sz="1500">
                <a:solidFill>
                  <a:srgbClr val="444444"/>
                </a:solidFill>
              </a:defRPr>
            </a:pPr>
            <a:r>
              <a:t>   wᵢ* = 1 / (SEᵢ² + τ²)</a:t>
            </a:r>
          </a:p>
          <a:p>
            <a:pPr>
              <a:spcAft>
                <a:spcPts val="1000"/>
              </a:spcAft>
              <a:defRPr sz="1500">
                <a:solidFill>
                  <a:srgbClr val="444444"/>
                </a:solidFill>
              </a:defRPr>
            </a:pPr>
            <a:r>
              <a:t>   τ² estimated via restricted maximum likelihood (REML)</a:t>
            </a:r>
          </a:p>
          <a:p>
            <a:pPr>
              <a:spcAft>
                <a:spcPts val="1000"/>
              </a:spcAft>
              <a:defRPr sz="1700">
                <a:solidFill>
                  <a:srgbClr val="111111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111111"/>
                </a:solidFill>
              </a:defRPr>
            </a:pPr>
            <a:r>
              <a:t>Heterogeneity:</a:t>
            </a:r>
          </a:p>
          <a:p>
            <a:pPr>
              <a:spcAft>
                <a:spcPts val="1000"/>
              </a:spcAft>
              <a:defRPr sz="1500">
                <a:solidFill>
                  <a:srgbClr val="444444"/>
                </a:solidFill>
              </a:defRPr>
            </a:pPr>
            <a:r>
              <a:t>   Q = Σ wᵢ(ln ORᵢ − ln ORₚ)² ~ χ²(k−1)</a:t>
            </a:r>
          </a:p>
          <a:p>
            <a:pPr>
              <a:spcAft>
                <a:spcPts val="1000"/>
              </a:spcAft>
              <a:defRPr sz="1500">
                <a:solidFill>
                  <a:srgbClr val="444444"/>
                </a:solidFill>
              </a:defRPr>
            </a:pPr>
            <a:r>
              <a:t>   I² = max(0, (Q − (k−1)) / Q × 100%)</a:t>
            </a:r>
          </a:p>
          <a:p>
            <a:pPr>
              <a:spcAft>
                <a:spcPts val="1000"/>
              </a:spcAft>
              <a:defRPr sz="1700">
                <a:solidFill>
                  <a:srgbClr val="111111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111111"/>
                </a:solidFill>
              </a:defRPr>
            </a:pPr>
            <a:r>
              <a:t>Risk Difference (clinical interpretation):</a:t>
            </a:r>
          </a:p>
          <a:p>
            <a:pPr>
              <a:spcAft>
                <a:spcPts val="1000"/>
              </a:spcAft>
              <a:defRPr sz="1500">
                <a:solidFill>
                  <a:srgbClr val="444444"/>
                </a:solidFill>
              </a:defRPr>
            </a:pPr>
            <a:r>
              <a:t>   RD = p₀ × (OR − 1) / [1 + p₀ × (OR − 1)]</a:t>
            </a:r>
          </a:p>
          <a:p>
            <a:pPr>
              <a:spcAft>
                <a:spcPts val="1000"/>
              </a:spcAft>
              <a:defRPr sz="1500">
                <a:solidFill>
                  <a:srgbClr val="444444"/>
                </a:solidFill>
              </a:defRPr>
            </a:pPr>
            <a:r>
              <a:t>   NNH = 1 / |RD|</a:t>
            </a:r>
          </a:p>
          <a:p>
            <a:pPr>
              <a:spcAft>
                <a:spcPts val="1000"/>
              </a:spcAft>
              <a:defRPr sz="1700">
                <a:solidFill>
                  <a:srgbClr val="111111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111111"/>
                </a:solidFill>
              </a:defRPr>
            </a:pPr>
            <a:r>
              <a:t>Egger’s test:  SNDᵢ = ln(ORᵢ) / SEᵢ  regressed on  precisionᵢ = 1/SEᵢ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46520"/>
            <a:ext cx="11064240" cy="1905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09090"/>
                </a:solidFill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1A2E4A"/>
                </a:solidFill>
              </a:defRPr>
            </a:pPr>
            <a:r>
              <a:t>Results — Study Selection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1064240" cy="152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11111"/>
                </a:solidFill>
              </a:defRPr>
            </a:pPr>
            <a:r>
              <a:t>• Initial search: 3,135 records across 5 databases</a:t>
            </a:r>
          </a:p>
          <a:p>
            <a:pPr>
              <a:spcAft>
                <a:spcPts val="1000"/>
              </a:spcAft>
              <a:defRPr sz="1700">
                <a:solidFill>
                  <a:srgbClr val="111111"/>
                </a:solidFill>
              </a:defRPr>
            </a:pPr>
            <a:r>
              <a:t>• After duplicate removal: 3,412 screened (phase 1)</a:t>
            </a:r>
          </a:p>
          <a:p>
            <a:pPr>
              <a:spcAft>
                <a:spcPts val="1000"/>
              </a:spcAft>
              <a:defRPr sz="1700">
                <a:solidFill>
                  <a:srgbClr val="111111"/>
                </a:solidFill>
              </a:defRPr>
            </a:pPr>
            <a:r>
              <a:t>• Full-text assessed: 30 articles (phase 2)</a:t>
            </a:r>
          </a:p>
          <a:p>
            <a:pPr>
              <a:spcAft>
                <a:spcPts val="1000"/>
              </a:spcAft>
              <a:defRPr sz="1700">
                <a:solidFill>
                  <a:srgbClr val="111111"/>
                </a:solidFill>
              </a:defRPr>
            </a:pPr>
            <a:r>
              <a:t>• Included: 26 studies (24 observational + 2 RCTs)</a:t>
            </a:r>
          </a:p>
          <a:p>
            <a:pPr>
              <a:spcAft>
                <a:spcPts val="1000"/>
              </a:spcAft>
              <a:defRPr sz="1700">
                <a:solidFill>
                  <a:srgbClr val="111111"/>
                </a:solidFill>
              </a:defRPr>
            </a:pPr>
            <a:r>
              <a:t>• Total participants: 26,542</a:t>
            </a:r>
          </a:p>
          <a:p>
            <a:pPr>
              <a:spcAft>
                <a:spcPts val="1000"/>
              </a:spcAft>
              <a:defRPr sz="1700">
                <a:solidFill>
                  <a:srgbClr val="111111"/>
                </a:solidFill>
              </a:defRPr>
            </a:pPr>
            <a:r>
              <a:t>• Countries: 16 (Asia 46%, Europe 31%, America 15%, Africa 4%)</a:t>
            </a:r>
          </a:p>
          <a:p>
            <a:pPr>
              <a:spcAft>
                <a:spcPts val="1000"/>
              </a:spcAft>
              <a:defRPr sz="1700">
                <a:solidFill>
                  <a:srgbClr val="111111"/>
                </a:solidFill>
              </a:defRPr>
            </a:pPr>
            <a:r>
              <a:t>• Publication period: 2010–2025</a:t>
            </a:r>
          </a:p>
          <a:p>
            <a:pPr>
              <a:spcAft>
                <a:spcPts val="1000"/>
              </a:spcAft>
              <a:defRPr sz="1700">
                <a:solidFill>
                  <a:srgbClr val="111111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111111"/>
                </a:solidFill>
              </a:defRPr>
            </a:pPr>
            <a:r>
              <a:t>• Meta-analysis (pooled): k = 4 (SGA/FGR) + k = 4 (Biometry/EFW)</a:t>
            </a:r>
          </a:p>
          <a:p>
            <a:pPr>
              <a:spcAft>
                <a:spcPts val="1000"/>
              </a:spcAft>
              <a:defRPr sz="1700">
                <a:solidFill>
                  <a:srgbClr val="111111"/>
                </a:solidFill>
              </a:defRPr>
            </a:pPr>
            <a:r>
              <a:t>• Narrative synthesis: remaining 18 studies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46520"/>
            <a:ext cx="11064240" cy="1905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09090"/>
                </a:solidFill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E4A"/>
                </a:solidFill>
              </a:defRPr>
            </a:pPr>
            <a:r>
              <a:t>Results — Study Characteristics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152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tudyCharacteris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1538" y="1097280"/>
            <a:ext cx="6608618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46520"/>
            <a:ext cx="11064240" cy="1905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09090"/>
                </a:solidFill>
              </a:defRPr>
            </a:pPr>
            <a: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E4A"/>
                </a:solidFill>
              </a:defRPr>
            </a:pPr>
            <a:r>
              <a:t>Results — Methodological Quality (JBI + NOS)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152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Quality_JBI_N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251" y="1097280"/>
            <a:ext cx="7049192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909090"/>
                </a:solidFill>
              </a:defRPr>
            </a:pPr>
            <a:r>
              <a:t>JBI Critical Appraisal (Q1–Q9) and Newcastle-Ottawa Scale for 24 observational studies.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46520"/>
            <a:ext cx="11064240" cy="1905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09090"/>
                </a:solidFill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E4A"/>
                </a:solidFill>
              </a:defRPr>
            </a:pPr>
            <a:r>
              <a:t>Results — Primary Meta-Analysis: SGA/FGR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152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orest_SGA_FG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1064240" cy="34575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909090"/>
                </a:solidFill>
              </a:defRPr>
            </a:pPr>
            <a:r>
              <a:t>Pooled OR = 1.95 (95% CI 1.47–2.59); I² = 0%; Fixed-effects model; k = 4, N = 9,033.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46520"/>
            <a:ext cx="11064240" cy="1905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09090"/>
                </a:solidFill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E4A"/>
                </a:solidFill>
              </a:defRPr>
            </a:pPr>
            <a:r>
              <a:t>Results — Secondary Meta-Analysis: Biometry/EFW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152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orest_Biometry_EF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1064240" cy="4056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909090"/>
                </a:solidFill>
              </a:defRPr>
            </a:pPr>
            <a:r>
              <a:t>Pooled OR = 1.16 (95% CI 1.09–1.23); I² = 33%; Fixed-effects model; k = 4, N = 26,542.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46520"/>
            <a:ext cx="11064240" cy="1905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09090"/>
                </a:solidFill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E4A"/>
                </a:solidFill>
              </a:defRPr>
            </a:pPr>
            <a:r>
              <a:t>Results — RCT Continuous Outcomes (Mean Difference)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152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orest_RCT_M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1064240" cy="4056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909090"/>
                </a:solidFill>
              </a:defRPr>
            </a:pPr>
            <a:r>
              <a:t>Vafaei 2019 (Low RoB): FL +1.98 mm, HL +1.39 mm. Srilekha 2021 (High RoB): EFW +277 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46520"/>
            <a:ext cx="11064240" cy="1905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09090"/>
                </a:solidFill>
              </a:defRPr>
            </a:pPr>
            <a: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E4A"/>
                </a:solidFill>
              </a:defRPr>
            </a:pPr>
            <a:r>
              <a:t>Results — Leave-One-Out Sensitivity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152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O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1064240" cy="46101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909090"/>
                </a:solidFill>
              </a:defRPr>
            </a:pPr>
            <a:r>
              <a:t>All LOO estimates remain statistically significant, confirming robustness.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46520"/>
            <a:ext cx="11064240" cy="1905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09090"/>
                </a:solidFill>
              </a:defRPr>
            </a:pPr>
            <a: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E4A"/>
                </a:solidFill>
              </a:defRPr>
            </a:pPr>
            <a:r>
              <a:t>Results — Publication Bias (Funnel Plot &amp; Trim-and-Fill)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152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unnel_TrimF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9792" y="1097280"/>
            <a:ext cx="5452110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909090"/>
                </a:solidFill>
              </a:defRPr>
            </a:pPr>
            <a:r>
              <a:t>Duval &amp; Tweedie trim-and-fill analysis. Egger/Begg tests underpowered (k = 4).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46520"/>
            <a:ext cx="11064240" cy="1905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09090"/>
                </a:solidFill>
              </a:defRPr>
            </a:pPr>
            <a: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E4A"/>
                </a:solidFill>
              </a:defRPr>
            </a:pPr>
            <a:r>
              <a:t>Results — Subgroup by Vitamin D Cutoff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152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utoff_Subgro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953" y="1097280"/>
            <a:ext cx="10573789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909090"/>
                </a:solidFill>
              </a:defRPr>
            </a:pPr>
            <a:r>
              <a:t>All subgroups directionally consistent regardless of deficiency threshold.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46520"/>
            <a:ext cx="11064240" cy="1905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09090"/>
                </a:solidFill>
              </a:defRPr>
            </a:pPr>
            <a: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E4A"/>
                </a:solidFill>
              </a:defRPr>
            </a:pPr>
            <a:r>
              <a:t>Results — GRADE Evidence Profile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152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RADE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4190" y="1097280"/>
            <a:ext cx="6923314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909090"/>
                </a:solidFill>
              </a:defRPr>
            </a:pPr>
            <a:r>
              <a:t>Certainty: High (Biometry/EFW), Moderate (SGA/FGR, FL/HL, Infant wt.), Low (EFW/BPD RCT, Adiposity).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46520"/>
            <a:ext cx="11064240" cy="1905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09090"/>
                </a:solidFill>
              </a:defRPr>
            </a:pPr>
            <a: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E4A"/>
                </a:solidFill>
              </a:defRPr>
            </a:pPr>
            <a:r>
              <a:t>Results — 25(OH)D Concentration vs Sample Size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152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ubble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693" y="1097280"/>
            <a:ext cx="9000308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909090"/>
                </a:solidFill>
              </a:defRPr>
            </a:pPr>
            <a:r>
              <a:t>Studies below 50 nmol/L threshold more frequently reported significant associations.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46520"/>
            <a:ext cx="11064240" cy="1905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09090"/>
                </a:solidFill>
              </a:defRPr>
            </a:pPr>
            <a: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1A2E4A"/>
                </a:solidFill>
              </a:defRPr>
            </a:pPr>
            <a:r>
              <a:t>Summary of Key Findings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1064240" cy="152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11111"/>
                </a:solidFill>
              </a:defRPr>
            </a:pPr>
            <a:r>
              <a:t>• Maternal vitamin D deficiency is significantly associated with increased risk of SGA/FGR</a:t>
            </a:r>
          </a:p>
          <a:p>
            <a:pPr>
              <a:spcAft>
                <a:spcPts val="1000"/>
              </a:spcAft>
              <a:defRPr sz="1500">
                <a:solidFill>
                  <a:srgbClr val="444444"/>
                </a:solidFill>
              </a:defRPr>
            </a:pPr>
            <a:r>
              <a:t>   OR = 1.95 (1.47–2.59); NNH = 14 (baseline SGA 8%)</a:t>
            </a:r>
          </a:p>
          <a:p>
            <a:pPr>
              <a:spcAft>
                <a:spcPts val="1000"/>
              </a:spcAft>
              <a:defRPr sz="1700">
                <a:solidFill>
                  <a:srgbClr val="111111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111111"/>
                </a:solidFill>
              </a:defRPr>
            </a:pPr>
            <a:r>
              <a:t>• Deficiency also associated with altered fetal biometry/EFW</a:t>
            </a:r>
          </a:p>
          <a:p>
            <a:pPr>
              <a:spcAft>
                <a:spcPts val="1000"/>
              </a:spcAft>
              <a:defRPr sz="1500">
                <a:solidFill>
                  <a:srgbClr val="444444"/>
                </a:solidFill>
              </a:defRPr>
            </a:pPr>
            <a:r>
              <a:t>   OR = 1.16 (1.09–1.23); GRADE: High certainty</a:t>
            </a:r>
          </a:p>
          <a:p>
            <a:pPr>
              <a:spcAft>
                <a:spcPts val="1000"/>
              </a:spcAft>
              <a:defRPr sz="1700">
                <a:solidFill>
                  <a:srgbClr val="111111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111111"/>
                </a:solidFill>
              </a:defRPr>
            </a:pPr>
            <a:r>
              <a:t>• RCT evidence (limited): supplementation improves fetal bone length</a:t>
            </a:r>
          </a:p>
          <a:p>
            <a:pPr>
              <a:spcAft>
                <a:spcPts val="1000"/>
              </a:spcAft>
              <a:defRPr sz="1500">
                <a:solidFill>
                  <a:srgbClr val="444444"/>
                </a:solidFill>
              </a:defRPr>
            </a:pPr>
            <a:r>
              <a:t>   FL: +1.98 mm (p &lt; 0.001); HL: +1.39 mm (p &lt; 0.001)</a:t>
            </a:r>
          </a:p>
          <a:p>
            <a:pPr>
              <a:spcAft>
                <a:spcPts val="1000"/>
              </a:spcAft>
              <a:defRPr sz="1700">
                <a:solidFill>
                  <a:srgbClr val="111111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111111"/>
                </a:solidFill>
              </a:defRPr>
            </a:pPr>
            <a:r>
              <a:t>• Results robust across sensitivity analyses (LOO, subgroup, trim-and-fill)</a:t>
            </a:r>
          </a:p>
          <a:p>
            <a:pPr>
              <a:spcAft>
                <a:spcPts val="1000"/>
              </a:spcAft>
              <a:defRPr sz="1700">
                <a:solidFill>
                  <a:srgbClr val="111111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111111"/>
                </a:solidFill>
              </a:defRPr>
            </a:pPr>
            <a:r>
              <a:t>• No significant association with fetal adiposity (k = 2; GRADE: Low)</a:t>
            </a:r>
          </a:p>
          <a:p>
            <a:pPr>
              <a:spcAft>
                <a:spcPts val="1000"/>
              </a:spcAft>
              <a:defRPr sz="1700">
                <a:solidFill>
                  <a:srgbClr val="111111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111111"/>
                </a:solidFill>
              </a:defRPr>
            </a:pPr>
            <a:r>
              <a:t>• 15/26 studies (58%) reported significant associations with fetal growth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46520"/>
            <a:ext cx="11064240" cy="1905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09090"/>
                </a:solidFill>
              </a:defRPr>
            </a:pPr>
            <a: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1A2E4A"/>
                </a:solidFill>
              </a:defRPr>
            </a:pPr>
            <a:r>
              <a:t>Strengths &amp; Limitations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1064240" cy="152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11111"/>
                </a:solidFill>
              </a:defRPr>
            </a:pPr>
            <a:r>
              <a:t>Strengths:</a:t>
            </a:r>
          </a:p>
          <a:p>
            <a:pPr>
              <a:spcAft>
                <a:spcPts val="1000"/>
              </a:spcAft>
              <a:defRPr sz="1500">
                <a:solidFill>
                  <a:srgbClr val="444444"/>
                </a:solidFill>
              </a:defRPr>
            </a:pPr>
            <a:r>
              <a:t>   – Comprehensive search across 6 databases (3,135 records)</a:t>
            </a:r>
          </a:p>
          <a:p>
            <a:pPr>
              <a:spcAft>
                <a:spcPts val="1000"/>
              </a:spcAft>
              <a:defRPr sz="1500">
                <a:solidFill>
                  <a:srgbClr val="444444"/>
                </a:solidFill>
              </a:defRPr>
            </a:pPr>
            <a:r>
              <a:t>   – Both observational and RCT evidence synthesized</a:t>
            </a:r>
          </a:p>
          <a:p>
            <a:pPr>
              <a:spcAft>
                <a:spcPts val="1000"/>
              </a:spcAft>
              <a:defRPr sz="1500">
                <a:solidFill>
                  <a:srgbClr val="444444"/>
                </a:solidFill>
              </a:defRPr>
            </a:pPr>
            <a:r>
              <a:t>   – Adaptive model selection based on heterogeneity (I²)</a:t>
            </a:r>
          </a:p>
          <a:p>
            <a:pPr>
              <a:spcAft>
                <a:spcPts val="1000"/>
              </a:spcAft>
              <a:defRPr sz="1500">
                <a:solidFill>
                  <a:srgbClr val="444444"/>
                </a:solidFill>
              </a:defRPr>
            </a:pPr>
            <a:r>
              <a:t>   – Multiple sensitivity analyses and GRADE assessment</a:t>
            </a:r>
          </a:p>
          <a:p>
            <a:pPr>
              <a:spcAft>
                <a:spcPts val="1000"/>
              </a:spcAft>
              <a:defRPr sz="1500">
                <a:solidFill>
                  <a:srgbClr val="444444"/>
                </a:solidFill>
              </a:defRPr>
            </a:pPr>
            <a:r>
              <a:t>   – Dual quality tools (JBI + NOS for observational; RoB 2 for RCTs)</a:t>
            </a:r>
          </a:p>
          <a:p>
            <a:pPr>
              <a:spcAft>
                <a:spcPts val="1000"/>
              </a:spcAft>
              <a:defRPr sz="1700">
                <a:solidFill>
                  <a:srgbClr val="111111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111111"/>
                </a:solidFill>
              </a:defRPr>
            </a:pPr>
            <a:r>
              <a:t>Limitations:</a:t>
            </a:r>
          </a:p>
          <a:p>
            <a:pPr>
              <a:spcAft>
                <a:spcPts val="1000"/>
              </a:spcAft>
              <a:defRPr sz="1500">
                <a:solidFill>
                  <a:srgbClr val="444444"/>
                </a:solidFill>
              </a:defRPr>
            </a:pPr>
            <a:r>
              <a:t>   – Small number of poolable studies (k = 4 per analysis)</a:t>
            </a:r>
          </a:p>
          <a:p>
            <a:pPr>
              <a:spcAft>
                <a:spcPts val="1000"/>
              </a:spcAft>
              <a:defRPr sz="1500">
                <a:solidFill>
                  <a:srgbClr val="444444"/>
                </a:solidFill>
              </a:defRPr>
            </a:pPr>
            <a:r>
              <a:t>   – Heterogeneity in VitD cutoffs and timing of measurement</a:t>
            </a:r>
          </a:p>
          <a:p>
            <a:pPr>
              <a:spcAft>
                <a:spcPts val="1000"/>
              </a:spcAft>
              <a:defRPr sz="1500">
                <a:solidFill>
                  <a:srgbClr val="444444"/>
                </a:solidFill>
              </a:defRPr>
            </a:pPr>
            <a:r>
              <a:t>   – Only 2 RCTs available (1 with high risk of bias)</a:t>
            </a:r>
          </a:p>
          <a:p>
            <a:pPr>
              <a:spcAft>
                <a:spcPts val="1000"/>
              </a:spcAft>
              <a:defRPr sz="1500">
                <a:solidFill>
                  <a:srgbClr val="444444"/>
                </a:solidFill>
              </a:defRPr>
            </a:pPr>
            <a:r>
              <a:t>   – Limited evidence on adiposity outcomes</a:t>
            </a:r>
          </a:p>
          <a:p>
            <a:pPr>
              <a:spcAft>
                <a:spcPts val="1000"/>
              </a:spcAft>
              <a:defRPr sz="1500">
                <a:solidFill>
                  <a:srgbClr val="444444"/>
                </a:solidFill>
              </a:defRPr>
            </a:pPr>
            <a:r>
              <a:t>   – Residual confounding in observational studies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46520"/>
            <a:ext cx="11064240" cy="1905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09090"/>
                </a:solidFill>
              </a:defRPr>
            </a:pPr>
            <a: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1A2E4A"/>
                </a:solidFill>
              </a:defRPr>
            </a:pPr>
            <a: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1064240" cy="152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11111"/>
                </a:solidFill>
              </a:defRPr>
            </a:pPr>
            <a:r>
              <a:t>• Maternal vitamin D deficiency during pregnancy is consistently associated</a:t>
            </a:r>
          </a:p>
          <a:p>
            <a:pPr>
              <a:spcAft>
                <a:spcPts val="1000"/>
              </a:spcAft>
              <a:defRPr sz="1700">
                <a:solidFill>
                  <a:srgbClr val="111111"/>
                </a:solidFill>
              </a:defRPr>
            </a:pPr>
            <a:r>
              <a:t>  with impaired fetal growth, particularly increased SGA/FGR risk (OR ≈ 2.0)</a:t>
            </a:r>
          </a:p>
          <a:p>
            <a:pPr>
              <a:spcAft>
                <a:spcPts val="1000"/>
              </a:spcAft>
              <a:defRPr sz="1700">
                <a:solidFill>
                  <a:srgbClr val="111111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111111"/>
                </a:solidFill>
              </a:defRPr>
            </a:pPr>
            <a:r>
              <a:t>• Vitamin D supplementation in RCTs shows promising effects on fetal bone growth,</a:t>
            </a:r>
          </a:p>
          <a:p>
            <a:pPr>
              <a:spcAft>
                <a:spcPts val="1000"/>
              </a:spcAft>
              <a:defRPr sz="1700">
                <a:solidFill>
                  <a:srgbClr val="111111"/>
                </a:solidFill>
              </a:defRPr>
            </a:pPr>
            <a:r>
              <a:t>  though evidence remains limited (k = 2)</a:t>
            </a:r>
          </a:p>
          <a:p>
            <a:pPr>
              <a:spcAft>
                <a:spcPts val="1000"/>
              </a:spcAft>
              <a:defRPr sz="1700">
                <a:solidFill>
                  <a:srgbClr val="111111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111111"/>
                </a:solidFill>
              </a:defRPr>
            </a:pPr>
            <a:r>
              <a:t>• Clinical implication: screening and correcting vitamin D deficiency in pregnancy</a:t>
            </a:r>
          </a:p>
          <a:p>
            <a:pPr>
              <a:spcAft>
                <a:spcPts val="1000"/>
              </a:spcAft>
              <a:defRPr sz="1700">
                <a:solidFill>
                  <a:srgbClr val="111111"/>
                </a:solidFill>
              </a:defRPr>
            </a:pPr>
            <a:r>
              <a:t>  may contribute to improved fetal growth outcomes</a:t>
            </a:r>
          </a:p>
          <a:p>
            <a:pPr>
              <a:spcAft>
                <a:spcPts val="1000"/>
              </a:spcAft>
              <a:defRPr sz="1700">
                <a:solidFill>
                  <a:srgbClr val="111111"/>
                </a:solidFill>
              </a:defRPr>
            </a:pPr>
          </a:p>
          <a:p>
            <a:pPr>
              <a:spcAft>
                <a:spcPts val="1000"/>
              </a:spcAft>
              <a:defRPr sz="1700">
                <a:solidFill>
                  <a:srgbClr val="111111"/>
                </a:solidFill>
              </a:defRPr>
            </a:pPr>
            <a:r>
              <a:t>• Future research: large-scale RCTs with standardized protocols, consistent cutoffs,</a:t>
            </a:r>
          </a:p>
          <a:p>
            <a:pPr>
              <a:spcAft>
                <a:spcPts val="1000"/>
              </a:spcAft>
              <a:defRPr sz="1700">
                <a:solidFill>
                  <a:srgbClr val="111111"/>
                </a:solidFill>
              </a:defRPr>
            </a:pPr>
            <a:r>
              <a:t>  and adiposity as a primary endpoint are needed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A2E4A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444444"/>
                </a:solidFill>
              </a:defRPr>
            </a:pPr>
            <a:r>
              <a:t>audenciovictor@gmail.com</a:t>
            </a:r>
            <a:br/>
            <a:r>
              <a:t>https://github.com/Audency/maternal-vitamin-d-meta-analysis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7315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